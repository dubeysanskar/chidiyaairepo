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3DXxKD8Alz9KLcNtRDqjotI/g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F21DE-7FDE-4BFB-B874-C8B3B5E4F661}" v="1705" dt="2024-09-26T04:23:43.046"/>
    <p1510:client id="{46828363-E486-4A0F-A773-12288503499D}" v="131" dt="2024-09-26T04:31:30.549"/>
    <p1510:client id="{5D059AEB-4B98-4740-B455-6A68B3877D66}" v="29" dt="2024-09-25T18:52:09.116"/>
    <p1510:client id="{608AAA68-E9F2-4A5D-A982-FC88D54D48DC}" v="30" dt="2024-09-26T01:39:43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d347d205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2fd347d205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d347d205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g2fd347d205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fd347d205f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d347d205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" name="Google Shape;104;g2fd347d205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2fd347d205f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d347d205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g2fd347d205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fd347d205f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d347d205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g2fd347d205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fd347d205f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d347d205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0" name="Google Shape;140;g2fd347d205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fd347d205f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6.png"/><Relationship Id="rId3" Type="http://schemas.openxmlformats.org/officeDocument/2006/relationships/image" Target="../media/image5.jpe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image" Target="../media/image25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8.png"/><Relationship Id="rId10" Type="http://schemas.openxmlformats.org/officeDocument/2006/relationships/image" Target="../media/image11.sv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23.svg"/><Relationship Id="rId27" Type="http://schemas.openxmlformats.org/officeDocument/2006/relationships/image" Target="../media/image2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hyperlink" Target="https://github.com/dubeysanskar/codif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drive.google.com/drive/folders/147sRlDFJCbQoLVsn7LRGaPF9VxaN7Kz0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258697764_Gamification_in_Education_What_How_Why_Bother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s://www.researchgate.net/publication/354171816_Artificial_Intelligence_for_Career_Guidance_-_Current_Requirements_and_Prospects_for_the_Futur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1https/files.eric.ed.gov/fulltext/EJ1318705.pdf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ai.jmir.org/2022/1/e38171" TargetMode="External"/><Relationship Id="rId10" Type="http://schemas.openxmlformats.org/officeDocument/2006/relationships/hyperlink" Target="https://www.weforum.org/agenda/2021/05/what-gig-economy-workers/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news.mit.edu/2016/using-educational-technology-enhance-student-learning-080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d347d205f_0_7"/>
          <p:cNvSpPr/>
          <p:nvPr/>
        </p:nvSpPr>
        <p:spPr>
          <a:xfrm>
            <a:off x="1151385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2fd347d205f_0_7"/>
          <p:cNvSpPr/>
          <p:nvPr/>
        </p:nvSpPr>
        <p:spPr>
          <a:xfrm flipH="1">
            <a:off x="7909993" y="564390"/>
            <a:ext cx="2893046" cy="3178185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2fd347d205f_0_7"/>
          <p:cNvSpPr txBox="1">
            <a:spLocks noGrp="1"/>
          </p:cNvSpPr>
          <p:nvPr>
            <p:ph type="subTitle" idx="1"/>
          </p:nvPr>
        </p:nvSpPr>
        <p:spPr>
          <a:xfrm>
            <a:off x="1760985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g2fd347d205f_0_7"/>
          <p:cNvSpPr txBox="1">
            <a:spLocks noGrp="1"/>
          </p:cNvSpPr>
          <p:nvPr>
            <p:ph type="ctrTitle"/>
          </p:nvPr>
        </p:nvSpPr>
        <p:spPr>
          <a:xfrm>
            <a:off x="842563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UHACK 3.0 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8" name="Google Shape;88;g2fd347d205f_0_7"/>
          <p:cNvSpPr txBox="1"/>
          <p:nvPr/>
        </p:nvSpPr>
        <p:spPr>
          <a:xfrm>
            <a:off x="392246" y="1678557"/>
            <a:ext cx="7400474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</a:t>
            </a:r>
            <a:r>
              <a:rPr lang="en-US" sz="2400" b="1">
                <a:solidFill>
                  <a:schemeClr val="dk1"/>
                </a:solidFill>
              </a:rPr>
              <a:t>: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7501</a:t>
            </a:r>
            <a:endParaRPr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lang="en-US" sz="2400" b="1">
                <a:solidFill>
                  <a:schemeClr val="dk1"/>
                </a:solidFill>
              </a:rPr>
              <a:t>Title: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 Innovation</a:t>
            </a:r>
            <a:endParaRPr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</a:rPr>
              <a:t>Theme: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Student Innovation </a:t>
            </a:r>
            <a:endParaRPr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</a:t>
            </a:r>
            <a:r>
              <a:rPr lang="en-US" sz="2400" b="1">
                <a:solidFill>
                  <a:schemeClr val="dk1"/>
                </a:solidFill>
              </a:rPr>
              <a:t>Category: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</a:t>
            </a:r>
            <a:endParaRPr>
              <a:solidFill>
                <a:schemeClr val="dk1"/>
              </a:solidFill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2400" b="1">
                <a:solidFill>
                  <a:schemeClr val="dk1"/>
                </a:solidFill>
              </a:rPr>
              <a:t>ID: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UHK03251</a:t>
            </a:r>
            <a:endParaRPr>
              <a:solidFill>
                <a:schemeClr val="dk1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lang="en-US" sz="2400" b="1">
                <a:solidFill>
                  <a:schemeClr val="dk1"/>
                </a:solidFill>
              </a:rPr>
              <a:t>: </a:t>
            </a:r>
            <a:r>
              <a:rPr lang="en-US" sz="2400" b="1" err="1">
                <a:solidFill>
                  <a:schemeClr val="dk1"/>
                </a:solidFill>
              </a:rPr>
              <a:t>Cogni</a:t>
            </a:r>
            <a:r>
              <a:rPr lang="en-US" sz="2400" b="1">
                <a:solidFill>
                  <a:schemeClr val="dk1"/>
                </a:solidFill>
              </a:rPr>
              <a:t>–Z.I.D.S.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fd347d205f_0_7"/>
          <p:cNvSpPr/>
          <p:nvPr/>
        </p:nvSpPr>
        <p:spPr>
          <a:xfrm>
            <a:off x="8152813" y="1293546"/>
            <a:ext cx="2741146" cy="2453360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85F6E-64B6-A68B-B754-E6462E870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48" y="-557866"/>
            <a:ext cx="2049671" cy="20717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E78AE3-4D8E-EA45-D15B-CAE4EACD7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429" y="3027060"/>
            <a:ext cx="1906104" cy="1906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7CAF0D-68BD-783A-DD1D-93F2565F58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893" t="37306" r="29093" b="39227"/>
          <a:stretch/>
        </p:blipFill>
        <p:spPr>
          <a:xfrm>
            <a:off x="8404567" y="4836043"/>
            <a:ext cx="2522504" cy="12818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DAD4F2-595F-9733-D225-4D4E9BCC45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2833" y="-179900"/>
            <a:ext cx="12192000" cy="8867513"/>
          </a:xfrm>
          <a:prstGeom prst="rect">
            <a:avLst/>
          </a:prstGeom>
        </p:spPr>
      </p:pic>
      <p:sp>
        <p:nvSpPr>
          <p:cNvPr id="95" name="Google Shape;95;g2fd347d205f_0_16"/>
          <p:cNvSpPr/>
          <p:nvPr/>
        </p:nvSpPr>
        <p:spPr>
          <a:xfrm>
            <a:off x="-47625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2fd347d205f_0_16"/>
          <p:cNvSpPr txBox="1">
            <a:spLocks noGrp="1"/>
          </p:cNvSpPr>
          <p:nvPr>
            <p:ph type="title"/>
          </p:nvPr>
        </p:nvSpPr>
        <p:spPr>
          <a:xfrm>
            <a:off x="1497173" y="-231914"/>
            <a:ext cx="9161670" cy="590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98" name="Google Shape;98;g2fd347d205f_0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0" name="Google Shape;100;g2fd347d205f_0_16"/>
          <p:cNvSpPr/>
          <p:nvPr/>
        </p:nvSpPr>
        <p:spPr>
          <a:xfrm>
            <a:off x="10964086" y="-137528"/>
            <a:ext cx="1224374" cy="989234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0768B-2EF5-7CF5-E32C-E5740282B77E}"/>
              </a:ext>
            </a:extLst>
          </p:cNvPr>
          <p:cNvSpPr txBox="1"/>
          <p:nvPr/>
        </p:nvSpPr>
        <p:spPr>
          <a:xfrm>
            <a:off x="165846" y="598129"/>
            <a:ext cx="7459825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b="1">
                <a:latin typeface="Times New Roman"/>
                <a:cs typeface="Times New Roman"/>
              </a:rPr>
              <a:t>Proposed Solution: </a:t>
            </a:r>
            <a:r>
              <a:rPr lang="en-US" b="1" i="1">
                <a:solidFill>
                  <a:schemeClr val="bg2">
                    <a:lumMod val="75000"/>
                  </a:schemeClr>
                </a:solidFill>
              </a:rPr>
              <a:t>Codify: Empowering tomorrow's professionals, today.</a:t>
            </a:r>
          </a:p>
          <a:p>
            <a:r>
              <a:rPr lang="en-US"/>
              <a:t> </a:t>
            </a:r>
            <a:br>
              <a:rPr lang="en-US"/>
            </a:br>
            <a:r>
              <a:rPr lang="en-US" b="1">
                <a:latin typeface="Calibri"/>
                <a:ea typeface="Calibri"/>
                <a:cs typeface="Calibri"/>
              </a:rPr>
              <a:t>Codify</a:t>
            </a:r>
            <a:r>
              <a:rPr lang="en-US">
                <a:latin typeface="Calibri"/>
                <a:ea typeface="Calibri"/>
                <a:cs typeface="Calibri"/>
              </a:rPr>
              <a:t> provides a unified and </a:t>
            </a:r>
            <a:r>
              <a:rPr lang="en-US" b="1">
                <a:latin typeface="Calibri"/>
                <a:ea typeface="Calibri"/>
                <a:cs typeface="Calibri"/>
              </a:rPr>
              <a:t>all-in-one</a:t>
            </a:r>
            <a:r>
              <a:rPr lang="en-US">
                <a:latin typeface="Calibri"/>
                <a:ea typeface="Calibri"/>
                <a:cs typeface="Calibri"/>
              </a:rPr>
              <a:t> platform to guide students and professionals by offering essential </a:t>
            </a:r>
            <a:r>
              <a:rPr lang="en-US" b="1">
                <a:latin typeface="Calibri"/>
                <a:ea typeface="Calibri"/>
                <a:cs typeface="Calibri"/>
              </a:rPr>
              <a:t>academic and professional tools.</a:t>
            </a:r>
            <a:r>
              <a:rPr lang="en-US">
                <a:latin typeface="Calibri"/>
                <a:ea typeface="Calibri"/>
                <a:cs typeface="Calibri"/>
              </a:rPr>
              <a:t> It helps you </a:t>
            </a:r>
            <a:r>
              <a:rPr lang="en-US" b="1">
                <a:latin typeface="Calibri"/>
                <a:ea typeface="Calibri"/>
                <a:cs typeface="Calibri"/>
              </a:rPr>
              <a:t>move seamlessly</a:t>
            </a:r>
            <a:r>
              <a:rPr lang="en-US">
                <a:latin typeface="Calibri"/>
                <a:ea typeface="Calibri"/>
                <a:cs typeface="Calibri"/>
              </a:rPr>
              <a:t> from college to career with resources, connections, and</a:t>
            </a:r>
            <a:r>
              <a:rPr lang="en-US" b="1">
                <a:latin typeface="Calibri"/>
                <a:ea typeface="Calibri"/>
                <a:cs typeface="Calibri"/>
              </a:rPr>
              <a:t> innovative features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  <a:endParaRPr lang="en-IN">
              <a:latin typeface="Calibri"/>
              <a:ea typeface="Calibri"/>
              <a:cs typeface="Calibri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880903E-8F2F-FD47-0CF7-907FFA3005E2}"/>
              </a:ext>
            </a:extLst>
          </p:cNvPr>
          <p:cNvCxnSpPr>
            <a:cxnSpLocks/>
          </p:cNvCxnSpPr>
          <p:nvPr/>
        </p:nvCxnSpPr>
        <p:spPr>
          <a:xfrm>
            <a:off x="7846833" y="951095"/>
            <a:ext cx="22086" cy="5087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A70786-1B1E-0C78-8638-1C53B0F7AE14}"/>
              </a:ext>
            </a:extLst>
          </p:cNvPr>
          <p:cNvSpPr txBox="1"/>
          <p:nvPr/>
        </p:nvSpPr>
        <p:spPr>
          <a:xfrm>
            <a:off x="329369" y="1894697"/>
            <a:ext cx="7592349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1. Guide Barter:</a:t>
            </a:r>
            <a:r>
              <a:rPr lang="en-US">
                <a:latin typeface="Calibri"/>
                <a:ea typeface="Calibri"/>
                <a:cs typeface="Calibri"/>
              </a:rPr>
              <a:t> A</a:t>
            </a:r>
            <a:r>
              <a:rPr lang="en-US" b="1">
                <a:latin typeface="Calibri"/>
                <a:ea typeface="Calibri"/>
                <a:cs typeface="Calibri"/>
              </a:rPr>
              <a:t> decentralized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b="1">
                <a:latin typeface="Calibri"/>
                <a:ea typeface="Calibri"/>
                <a:cs typeface="Calibri"/>
              </a:rPr>
              <a:t>peer-to-peer</a:t>
            </a:r>
            <a:r>
              <a:rPr lang="en-US">
                <a:latin typeface="Calibri"/>
                <a:ea typeface="Calibri"/>
                <a:cs typeface="Calibri"/>
              </a:rPr>
              <a:t> platform using smart contracts for skill exchange and guided mentorship.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2. Build Next:</a:t>
            </a:r>
            <a:r>
              <a:rPr lang="en-US">
                <a:latin typeface="Calibri"/>
                <a:ea typeface="Calibri"/>
                <a:cs typeface="Calibri"/>
              </a:rPr>
              <a:t> AI-driven </a:t>
            </a:r>
            <a:r>
              <a:rPr lang="en-US" b="1">
                <a:latin typeface="Calibri"/>
                <a:ea typeface="Calibri"/>
                <a:cs typeface="Calibri"/>
              </a:rPr>
              <a:t>NLP tools</a:t>
            </a:r>
            <a:r>
              <a:rPr lang="en-US">
                <a:latin typeface="Calibri"/>
                <a:ea typeface="Calibri"/>
                <a:cs typeface="Calibri"/>
              </a:rPr>
              <a:t> for resume generation, chatbot creation, and custom GPT model.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3. Lounge: Encrypted</a:t>
            </a:r>
            <a:r>
              <a:rPr lang="en-US">
                <a:latin typeface="Calibri"/>
                <a:ea typeface="Calibri"/>
                <a:cs typeface="Calibri"/>
              </a:rPr>
              <a:t>, interest-based chat rooms powered by</a:t>
            </a:r>
            <a:r>
              <a:rPr lang="en-US" b="1">
                <a:latin typeface="Calibri"/>
                <a:ea typeface="Calibri"/>
                <a:cs typeface="Calibri"/>
              </a:rPr>
              <a:t> decentralized communication protocols</a:t>
            </a:r>
            <a:r>
              <a:rPr lang="en-US">
                <a:latin typeface="Calibri"/>
                <a:ea typeface="Calibri"/>
                <a:cs typeface="Calibri"/>
              </a:rPr>
              <a:t>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4. Job Connect: </a:t>
            </a:r>
            <a:r>
              <a:rPr lang="en-US">
                <a:latin typeface="Calibri"/>
                <a:ea typeface="Calibri"/>
                <a:cs typeface="Calibri"/>
              </a:rPr>
              <a:t>AI-powered</a:t>
            </a:r>
            <a:r>
              <a:rPr lang="en-US" b="1">
                <a:latin typeface="Calibri"/>
                <a:ea typeface="Calibri"/>
                <a:cs typeface="Calibri"/>
              </a:rPr>
              <a:t> job-matching algorithms</a:t>
            </a:r>
            <a:r>
              <a:rPr lang="en-US">
                <a:latin typeface="Calibri"/>
                <a:ea typeface="Calibri"/>
                <a:cs typeface="Calibri"/>
              </a:rPr>
              <a:t> with automated application submissions and startup-friendly portals.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5. Inter(company's)view:</a:t>
            </a:r>
            <a:r>
              <a:rPr lang="en-US">
                <a:latin typeface="Calibri"/>
                <a:ea typeface="Calibri"/>
                <a:cs typeface="Calibri"/>
              </a:rPr>
              <a:t> Machine learning-based mock interviews with</a:t>
            </a:r>
            <a:r>
              <a:rPr lang="en-US" b="1">
                <a:latin typeface="Calibri"/>
                <a:ea typeface="Calibri"/>
                <a:cs typeface="Calibri"/>
              </a:rPr>
              <a:t> company-specific datasets and real-time feedback. 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6. College Sync: Cloud-based</a:t>
            </a:r>
            <a:r>
              <a:rPr lang="en-US">
                <a:latin typeface="Calibri"/>
                <a:ea typeface="Calibri"/>
                <a:cs typeface="Calibri"/>
              </a:rPr>
              <a:t> access to semester-wise PYQs, notes, and video tutorials with seamless synchronization.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7. Alumni &amp; Career Maps:</a:t>
            </a:r>
            <a:r>
              <a:rPr lang="en-US">
                <a:latin typeface="Calibri"/>
                <a:ea typeface="Calibri"/>
                <a:cs typeface="Calibri"/>
              </a:rPr>
              <a:t> Blockchain-verified alumni networks and </a:t>
            </a:r>
            <a:r>
              <a:rPr lang="en-US" b="1">
                <a:latin typeface="Calibri"/>
                <a:ea typeface="Calibri"/>
                <a:cs typeface="Calibri"/>
              </a:rPr>
              <a:t>AI-generated career road maps</a:t>
            </a:r>
            <a:r>
              <a:rPr lang="en-US">
                <a:latin typeface="Calibri"/>
                <a:ea typeface="Calibri"/>
                <a:cs typeface="Calibri"/>
              </a:rPr>
              <a:t>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8. Event Manic:</a:t>
            </a:r>
            <a:r>
              <a:rPr lang="en-US">
                <a:latin typeface="Calibri"/>
                <a:ea typeface="Calibri"/>
                <a:cs typeface="Calibri"/>
              </a:rPr>
              <a:t> Blockchain-based credential verification for events and seminars, ensuring tamper-proof certificates.  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</a:rPr>
              <a:t>9. Code Wizard:</a:t>
            </a:r>
            <a:r>
              <a:rPr lang="en-US">
                <a:latin typeface="Calibri"/>
                <a:ea typeface="Calibri"/>
                <a:cs typeface="Calibri"/>
              </a:rPr>
              <a:t> Integrated </a:t>
            </a:r>
            <a:r>
              <a:rPr lang="en-US" b="1">
                <a:latin typeface="Calibri"/>
                <a:ea typeface="Calibri"/>
                <a:cs typeface="Calibri"/>
              </a:rPr>
              <a:t>coding IDE</a:t>
            </a:r>
            <a:r>
              <a:rPr lang="en-US">
                <a:latin typeface="Calibri"/>
                <a:ea typeface="Calibri"/>
                <a:cs typeface="Calibri"/>
              </a:rPr>
              <a:t> and competitive coding platforms</a:t>
            </a:r>
          </a:p>
          <a:p>
            <a:r>
              <a:rPr lang="en-US" b="1">
                <a:latin typeface="Calibri"/>
                <a:ea typeface="Calibri"/>
                <a:cs typeface="Calibri"/>
              </a:rPr>
              <a:t>10. Open Source &amp; Freelance:</a:t>
            </a:r>
            <a:r>
              <a:rPr lang="en-US">
                <a:latin typeface="Calibri"/>
                <a:ea typeface="Calibri"/>
                <a:cs typeface="Calibri"/>
              </a:rPr>
              <a:t> GitHub </a:t>
            </a:r>
            <a:r>
              <a:rPr lang="en-US" b="1">
                <a:latin typeface="Calibri"/>
                <a:ea typeface="Calibri"/>
                <a:cs typeface="Calibri"/>
              </a:rPr>
              <a:t>API integration</a:t>
            </a:r>
            <a:r>
              <a:rPr lang="en-US">
                <a:latin typeface="Calibri"/>
                <a:ea typeface="Calibri"/>
                <a:cs typeface="Calibri"/>
              </a:rPr>
              <a:t> for tracking </a:t>
            </a:r>
            <a:r>
              <a:rPr lang="en-US" b="1">
                <a:latin typeface="Calibri"/>
                <a:ea typeface="Calibri"/>
                <a:cs typeface="Calibri"/>
              </a:rPr>
              <a:t>open-source contributions</a:t>
            </a:r>
            <a:r>
              <a:rPr lang="en-US">
                <a:latin typeface="Calibri"/>
                <a:ea typeface="Calibri"/>
                <a:cs typeface="Calibri"/>
              </a:rPr>
              <a:t> and freelance work, earning</a:t>
            </a:r>
            <a:r>
              <a:rPr lang="en-US" b="1">
                <a:latin typeface="Calibri"/>
                <a:ea typeface="Calibri"/>
                <a:cs typeface="Calibri"/>
              </a:rPr>
              <a:t> blockchain-verified skill badges.</a:t>
            </a:r>
            <a:endParaRPr lang="en-IN" b="1"/>
          </a:p>
        </p:txBody>
      </p:sp>
      <p:pic>
        <p:nvPicPr>
          <p:cNvPr id="8" name="Graphic 7" descr="Handshake with solid fill">
            <a:extLst>
              <a:ext uri="{FF2B5EF4-FFF2-40B4-BE49-F238E27FC236}">
                <a16:creationId xmlns:a16="http://schemas.microsoft.com/office/drawing/2014/main" id="{53F46608-D20F-98A8-4451-251DB3279D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257" y="1904476"/>
            <a:ext cx="317776" cy="359538"/>
          </a:xfrm>
          <a:prstGeom prst="rect">
            <a:avLst/>
          </a:prstGeom>
        </p:spPr>
      </p:pic>
      <p:pic>
        <p:nvPicPr>
          <p:cNvPr id="10" name="Graphic 9" descr="Braille with solid fill">
            <a:extLst>
              <a:ext uri="{FF2B5EF4-FFF2-40B4-BE49-F238E27FC236}">
                <a16:creationId xmlns:a16="http://schemas.microsoft.com/office/drawing/2014/main" id="{4754D9DF-E79D-6EAD-46AC-6ABB9C7AD6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35" y="2344813"/>
            <a:ext cx="283302" cy="283302"/>
          </a:xfrm>
          <a:prstGeom prst="rect">
            <a:avLst/>
          </a:prstGeom>
        </p:spPr>
      </p:pic>
      <p:pic>
        <p:nvPicPr>
          <p:cNvPr id="11" name="Graphic 10" descr="Chat with solid fill">
            <a:extLst>
              <a:ext uri="{FF2B5EF4-FFF2-40B4-BE49-F238E27FC236}">
                <a16:creationId xmlns:a16="http://schemas.microsoft.com/office/drawing/2014/main" id="{483B5044-00D1-970B-CCDF-A7772EE9C4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93" y="2573742"/>
            <a:ext cx="317776" cy="317776"/>
          </a:xfrm>
          <a:prstGeom prst="rect">
            <a:avLst/>
          </a:prstGeom>
        </p:spPr>
      </p:pic>
      <p:pic>
        <p:nvPicPr>
          <p:cNvPr id="12" name="Graphic 11" descr="Target Audience with solid fill">
            <a:extLst>
              <a:ext uri="{FF2B5EF4-FFF2-40B4-BE49-F238E27FC236}">
                <a16:creationId xmlns:a16="http://schemas.microsoft.com/office/drawing/2014/main" id="{EB7C234D-AE0D-579C-B6DC-081FB57A02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965" y="2945974"/>
            <a:ext cx="317776" cy="317776"/>
          </a:xfrm>
          <a:prstGeom prst="rect">
            <a:avLst/>
          </a:prstGeom>
        </p:spPr>
      </p:pic>
      <p:pic>
        <p:nvPicPr>
          <p:cNvPr id="14" name="Graphic 13" descr="Checklist with solid fill">
            <a:extLst>
              <a:ext uri="{FF2B5EF4-FFF2-40B4-BE49-F238E27FC236}">
                <a16:creationId xmlns:a16="http://schemas.microsoft.com/office/drawing/2014/main" id="{E93279DB-47EB-2311-FBFE-B7901C491F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37" y="3417028"/>
            <a:ext cx="317776" cy="317776"/>
          </a:xfrm>
          <a:prstGeom prst="rect">
            <a:avLst/>
          </a:prstGeom>
        </p:spPr>
      </p:pic>
      <p:pic>
        <p:nvPicPr>
          <p:cNvPr id="15" name="Graphic 14" descr="Podium with solid fill">
            <a:extLst>
              <a:ext uri="{FF2B5EF4-FFF2-40B4-BE49-F238E27FC236}">
                <a16:creationId xmlns:a16="http://schemas.microsoft.com/office/drawing/2014/main" id="{C3FD5ECF-5EBC-3A56-8369-B0830F4B56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492" y="4485668"/>
            <a:ext cx="317776" cy="317776"/>
          </a:xfrm>
          <a:prstGeom prst="rect">
            <a:avLst/>
          </a:prstGeom>
        </p:spPr>
      </p:pic>
      <p:pic>
        <p:nvPicPr>
          <p:cNvPr id="16" name="Graphic 15" descr="Map with pin with solid fill">
            <a:extLst>
              <a:ext uri="{FF2B5EF4-FFF2-40B4-BE49-F238E27FC236}">
                <a16:creationId xmlns:a16="http://schemas.microsoft.com/office/drawing/2014/main" id="{0A95D1EC-0685-3BC9-F411-EDE40E048B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492" y="4229827"/>
            <a:ext cx="317776" cy="317776"/>
          </a:xfrm>
          <a:prstGeom prst="rect">
            <a:avLst/>
          </a:prstGeom>
        </p:spPr>
      </p:pic>
      <p:pic>
        <p:nvPicPr>
          <p:cNvPr id="17" name="Graphic 16" descr="Group brainstorm with solid fill">
            <a:extLst>
              <a:ext uri="{FF2B5EF4-FFF2-40B4-BE49-F238E27FC236}">
                <a16:creationId xmlns:a16="http://schemas.microsoft.com/office/drawing/2014/main" id="{169597F0-B324-0881-7F4A-A41701BA567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637" y="3829886"/>
            <a:ext cx="317776" cy="317776"/>
          </a:xfrm>
          <a:prstGeom prst="rect">
            <a:avLst/>
          </a:prstGeom>
        </p:spPr>
      </p:pic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2B40C9B8-86C4-A79A-EB8F-5CF8255140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812" y="4929060"/>
            <a:ext cx="317776" cy="317776"/>
          </a:xfrm>
          <a:prstGeom prst="rect">
            <a:avLst/>
          </a:prstGeom>
        </p:spPr>
      </p:pic>
      <p:pic>
        <p:nvPicPr>
          <p:cNvPr id="19" name="Graphic 18" descr="Connections with solid fill">
            <a:extLst>
              <a:ext uri="{FF2B5EF4-FFF2-40B4-BE49-F238E27FC236}">
                <a16:creationId xmlns:a16="http://schemas.microsoft.com/office/drawing/2014/main" id="{E976FAC0-CE90-6883-3E12-8E246FA18CC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2491" y="5170433"/>
            <a:ext cx="317776" cy="31777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92E0F6-62B8-4203-F9AA-ECD61287EC68}"/>
              </a:ext>
            </a:extLst>
          </p:cNvPr>
          <p:cNvCxnSpPr>
            <a:cxnSpLocks/>
          </p:cNvCxnSpPr>
          <p:nvPr/>
        </p:nvCxnSpPr>
        <p:spPr>
          <a:xfrm flipV="1">
            <a:off x="568420" y="1816247"/>
            <a:ext cx="6663309" cy="23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994CF6A-221F-89E6-3880-6889E1332C1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-23644" y="-658261"/>
            <a:ext cx="1906107" cy="2016541"/>
          </a:xfrm>
          <a:prstGeom prst="rect">
            <a:avLst/>
          </a:prstGeom>
        </p:spPr>
      </p:pic>
      <p:pic>
        <p:nvPicPr>
          <p:cNvPr id="3" name="Picture 2" descr="A diagram of a program&#10;&#10;Description automatically generated">
            <a:extLst>
              <a:ext uri="{FF2B5EF4-FFF2-40B4-BE49-F238E27FC236}">
                <a16:creationId xmlns:a16="http://schemas.microsoft.com/office/drawing/2014/main" id="{727CFB21-0CB5-F704-9416-A7861E4FCCB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55632" y="611200"/>
            <a:ext cx="4387700" cy="3287375"/>
          </a:xfrm>
          <a:prstGeom prst="rect">
            <a:avLst/>
          </a:prstGeom>
        </p:spPr>
      </p:pic>
      <p:pic>
        <p:nvPicPr>
          <p:cNvPr id="2" name="Picture 1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95573F04-A4A3-71EC-EE19-FE8F8D02E99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88434" y="3996928"/>
            <a:ext cx="2729367" cy="21859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737A43-65FD-9E6B-861A-BDB72017DAA2}"/>
              </a:ext>
            </a:extLst>
          </p:cNvPr>
          <p:cNvSpPr txBox="1"/>
          <p:nvPr/>
        </p:nvSpPr>
        <p:spPr>
          <a:xfrm>
            <a:off x="7855745" y="4549209"/>
            <a:ext cx="149712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600" b="1" dirty="0">
                <a:latin typeface="Times New Roman"/>
              </a:rPr>
              <a:t>AR 3D MODELING OF SORTING TECHNIQUE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8D9509-15C6-68F1-C63C-34D2BBF56299}"/>
              </a:ext>
            </a:extLst>
          </p:cNvPr>
          <p:cNvSpPr txBox="1"/>
          <p:nvPr/>
        </p:nvSpPr>
        <p:spPr>
          <a:xfrm>
            <a:off x="1123950" y="5619750"/>
            <a:ext cx="6000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Our Stand Out Feature:</a:t>
            </a:r>
          </a:p>
          <a:p>
            <a:r>
              <a:rPr lang="en-US" sz="1200" b="1" dirty="0"/>
              <a:t>AR Learning Hub</a:t>
            </a:r>
            <a:r>
              <a:rPr lang="en-US" sz="1200" dirty="0"/>
              <a:t>: Codify offers immersive 3D models and simulations for subjects like engineering, architecture, </a:t>
            </a:r>
            <a:r>
              <a:rPr lang="en-US" sz="1200" err="1"/>
              <a:t>etc</a:t>
            </a:r>
            <a:r>
              <a:rPr lang="en-US" sz="1200" dirty="0"/>
              <a:t> making complex topics engaging and interactive.</a:t>
            </a:r>
          </a:p>
        </p:txBody>
      </p:sp>
      <p:pic>
        <p:nvPicPr>
          <p:cNvPr id="22" name="Graphic 21" descr="Head with gears with solid fill">
            <a:extLst>
              <a:ext uri="{FF2B5EF4-FFF2-40B4-BE49-F238E27FC236}">
                <a16:creationId xmlns:a16="http://schemas.microsoft.com/office/drawing/2014/main" id="{20A7023D-5883-6F21-B829-6D1F4470EAC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8473" y="5628418"/>
            <a:ext cx="599678" cy="6391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BF3245A-89EF-FF13-81F6-0F9B99B9CE97}"/>
              </a:ext>
            </a:extLst>
          </p:cNvPr>
          <p:cNvSpPr txBox="1"/>
          <p:nvPr/>
        </p:nvSpPr>
        <p:spPr>
          <a:xfrm>
            <a:off x="7945120" y="609600"/>
            <a:ext cx="1524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900" b="1" dirty="0">
                <a:latin typeface="Times New Roman"/>
              </a:rPr>
              <a:t>USE CASE DIAGRAM: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5C17DD-E950-7A2E-555C-8F5387BFFB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3054" y="-3929"/>
            <a:ext cx="12192000" cy="88675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8C12C4C-9B29-570A-23D6-F1483B04A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250" y="871328"/>
            <a:ext cx="11126233" cy="2507217"/>
          </a:xfrm>
          <a:prstGeom prst="rect">
            <a:avLst/>
          </a:prstGeom>
        </p:spPr>
      </p:pic>
      <p:sp>
        <p:nvSpPr>
          <p:cNvPr id="107" name="Google Shape;107;g2fd347d205f_0_27"/>
          <p:cNvSpPr/>
          <p:nvPr/>
        </p:nvSpPr>
        <p:spPr>
          <a:xfrm>
            <a:off x="0" y="6465197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2fd347d205f_0_27"/>
          <p:cNvSpPr txBox="1">
            <a:spLocks noGrp="1"/>
          </p:cNvSpPr>
          <p:nvPr>
            <p:ph type="title"/>
          </p:nvPr>
        </p:nvSpPr>
        <p:spPr>
          <a:xfrm>
            <a:off x="2251831" y="-137685"/>
            <a:ext cx="7671516" cy="6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0" name="Google Shape;110;g2fd347d205f_0_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2" name="Google Shape;112;g2fd347d205f_0_27"/>
          <p:cNvSpPr/>
          <p:nvPr/>
        </p:nvSpPr>
        <p:spPr>
          <a:xfrm>
            <a:off x="10937958" y="-137527"/>
            <a:ext cx="1239461" cy="995298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DDF39-77A5-1AC3-7D8F-3C577E3BD9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55" y="-746071"/>
            <a:ext cx="2049671" cy="20717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15AD03-9612-E51A-CA06-96E95C0183F1}"/>
              </a:ext>
            </a:extLst>
          </p:cNvPr>
          <p:cNvSpPr txBox="1"/>
          <p:nvPr/>
        </p:nvSpPr>
        <p:spPr>
          <a:xfrm>
            <a:off x="529021" y="496207"/>
            <a:ext cx="31373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b="1">
                <a:latin typeface="Times New Roman"/>
              </a:rPr>
              <a:t>DATA FLOW DIAGRAM:</a:t>
            </a:r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109D793E-9056-CD14-3C92-18E0CD612F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9137" y="3427766"/>
            <a:ext cx="4713399" cy="25685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4D5510-CD36-E0D4-923B-2CBD706935F0}"/>
              </a:ext>
            </a:extLst>
          </p:cNvPr>
          <p:cNvSpPr txBox="1"/>
          <p:nvPr/>
        </p:nvSpPr>
        <p:spPr>
          <a:xfrm>
            <a:off x="163444" y="3796748"/>
            <a:ext cx="327328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b="1" dirty="0"/>
              <a:t>Tech Stack &amp; Dependencies:</a:t>
            </a:r>
            <a:endParaRPr lang="en-IN" dirty="0"/>
          </a:p>
          <a:p>
            <a:pPr>
              <a:buFont typeface="Arial"/>
              <a:buChar char="•"/>
            </a:pPr>
            <a:r>
              <a:rPr lang="en-US" b="1" dirty="0"/>
              <a:t>MERN Stack (MongoDB, Express, React, Node.js)</a:t>
            </a:r>
            <a:r>
              <a:rPr lang="en-US" dirty="0"/>
              <a:t> with </a:t>
            </a:r>
            <a:r>
              <a:rPr lang="en-US" b="1" dirty="0"/>
              <a:t>Next.js</a:t>
            </a:r>
            <a:r>
              <a:rPr lang="en-US" dirty="0"/>
              <a:t> for server-side rendering.</a:t>
            </a:r>
          </a:p>
          <a:p>
            <a:pPr>
              <a:buFont typeface="Arial"/>
              <a:buChar char="•"/>
            </a:pPr>
            <a:r>
              <a:rPr lang="en-US" b="1" dirty="0"/>
              <a:t>Flutter &amp; Dart</a:t>
            </a:r>
            <a:r>
              <a:rPr lang="en-US" dirty="0"/>
              <a:t> with </a:t>
            </a:r>
            <a:r>
              <a:rPr lang="en-US" b="1" dirty="0" err="1"/>
              <a:t>BLoC</a:t>
            </a:r>
            <a:r>
              <a:rPr lang="en-US" dirty="0"/>
              <a:t> for state management and </a:t>
            </a:r>
            <a:r>
              <a:rPr lang="en-US" b="1" dirty="0"/>
              <a:t>Firebase</a:t>
            </a:r>
            <a:r>
              <a:rPr lang="en-US" dirty="0"/>
              <a:t> for real-time data, authentication, and hosting.</a:t>
            </a:r>
          </a:p>
          <a:p>
            <a:pPr>
              <a:buFont typeface="Arial"/>
              <a:buChar char="•"/>
            </a:pPr>
            <a:r>
              <a:rPr lang="en-US" b="1" dirty="0"/>
              <a:t>Socket.io</a:t>
            </a:r>
            <a:r>
              <a:rPr lang="en-US" dirty="0"/>
              <a:t> for real-time communication.</a:t>
            </a:r>
          </a:p>
          <a:p>
            <a:pPr>
              <a:buFont typeface="Arial"/>
              <a:buChar char="•"/>
            </a:pPr>
            <a:r>
              <a:rPr lang="en-US" b="1" dirty="0"/>
              <a:t>Blockchain</a:t>
            </a:r>
            <a:r>
              <a:rPr lang="en-US" dirty="0"/>
              <a:t> for secure transactions.</a:t>
            </a:r>
          </a:p>
          <a:p>
            <a:pPr>
              <a:buFont typeface="Arial"/>
              <a:buChar char="•"/>
            </a:pPr>
            <a:r>
              <a:rPr lang="en-US" b="1" dirty="0"/>
              <a:t>Flutter packages:</a:t>
            </a:r>
            <a:r>
              <a:rPr lang="en-US" dirty="0"/>
              <a:t> HTTP, Provider, Firebase Core.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A431C-3A6E-F4A5-0350-9E1E0626CB92}"/>
              </a:ext>
            </a:extLst>
          </p:cNvPr>
          <p:cNvSpPr txBox="1"/>
          <p:nvPr/>
        </p:nvSpPr>
        <p:spPr>
          <a:xfrm>
            <a:off x="2405270" y="3432314"/>
            <a:ext cx="18155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/>
              </a:rPr>
              <a:t>TECH STACK: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F4296-FAC2-7145-2043-02A1A9178586}"/>
              </a:ext>
            </a:extLst>
          </p:cNvPr>
          <p:cNvSpPr txBox="1"/>
          <p:nvPr/>
        </p:nvSpPr>
        <p:spPr>
          <a:xfrm>
            <a:off x="3310835" y="3796749"/>
            <a:ext cx="4024243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Char char="•"/>
            </a:pPr>
            <a:r>
              <a:rPr lang="en-US" b="1" dirty="0"/>
              <a:t>AR Technologies:</a:t>
            </a:r>
            <a:r>
              <a:rPr lang="en-US" dirty="0"/>
              <a:t> </a:t>
            </a:r>
            <a:r>
              <a:rPr lang="en-US" b="1" dirty="0"/>
              <a:t>ARKit 4</a:t>
            </a:r>
            <a:r>
              <a:rPr lang="en-US" dirty="0"/>
              <a:t> (iOS), </a:t>
            </a:r>
            <a:r>
              <a:rPr lang="en-US" b="1" err="1"/>
              <a:t>ARCore</a:t>
            </a:r>
            <a:r>
              <a:rPr lang="en-US" dirty="0"/>
              <a:t> (Android), </a:t>
            </a:r>
            <a:r>
              <a:rPr lang="en-US" b="1" dirty="0"/>
              <a:t>Unity Engine</a:t>
            </a:r>
            <a:r>
              <a:rPr lang="en-US" dirty="0"/>
              <a:t>, </a:t>
            </a:r>
            <a:r>
              <a:rPr lang="en-US" b="1" dirty="0"/>
              <a:t>Vuforia</a:t>
            </a:r>
            <a:r>
              <a:rPr lang="en-US" dirty="0"/>
              <a:t>, </a:t>
            </a:r>
            <a:r>
              <a:rPr lang="en-US" b="1" dirty="0"/>
              <a:t>Spark AR</a:t>
            </a:r>
            <a:r>
              <a:rPr lang="en-US" dirty="0"/>
              <a:t> for filters, and </a:t>
            </a:r>
            <a:r>
              <a:rPr lang="en-US" b="1" dirty="0"/>
              <a:t>Luma API</a:t>
            </a:r>
            <a:r>
              <a:rPr lang="en-US" dirty="0"/>
              <a:t> for advanced AR.</a:t>
            </a:r>
          </a:p>
          <a:p>
            <a:pPr>
              <a:buChar char="•"/>
            </a:pPr>
            <a:r>
              <a:rPr lang="en-US" b="1" dirty="0"/>
              <a:t>Version Control:</a:t>
            </a:r>
            <a:r>
              <a:rPr lang="en-US" dirty="0"/>
              <a:t> Git and GitHub.</a:t>
            </a:r>
          </a:p>
          <a:p>
            <a:pPr>
              <a:buChar char="•"/>
            </a:pPr>
            <a:r>
              <a:rPr lang="en-US" b="1" dirty="0"/>
              <a:t>REST APIs</a:t>
            </a:r>
            <a:r>
              <a:rPr lang="en-US" dirty="0"/>
              <a:t> for data exchange.</a:t>
            </a:r>
          </a:p>
          <a:p>
            <a:pPr>
              <a:buChar char="•"/>
            </a:pPr>
            <a:r>
              <a:rPr lang="en-US" b="1" dirty="0"/>
              <a:t>Libraries/Dependencies:</a:t>
            </a:r>
            <a:endParaRPr lang="en-US" dirty="0"/>
          </a:p>
          <a:p>
            <a:pPr>
              <a:buChar char="•"/>
            </a:pPr>
            <a:r>
              <a:rPr lang="en-US" b="1" dirty="0"/>
              <a:t>Axios</a:t>
            </a:r>
            <a:r>
              <a:rPr lang="en-US" dirty="0"/>
              <a:t> or </a:t>
            </a:r>
            <a:r>
              <a:rPr lang="en-US" b="1" dirty="0"/>
              <a:t>Fetch</a:t>
            </a:r>
            <a:r>
              <a:rPr lang="en-US" dirty="0"/>
              <a:t> for API requests.</a:t>
            </a:r>
          </a:p>
          <a:p>
            <a:pPr>
              <a:buChar char="•"/>
            </a:pPr>
            <a:r>
              <a:rPr lang="en-US" b="1" dirty="0"/>
              <a:t>Redux</a:t>
            </a:r>
            <a:r>
              <a:rPr lang="en-US" dirty="0"/>
              <a:t> or </a:t>
            </a:r>
            <a:r>
              <a:rPr lang="en-US" b="1" dirty="0"/>
              <a:t>Context API</a:t>
            </a:r>
            <a:r>
              <a:rPr lang="en-US" dirty="0"/>
              <a:t> for React state management.</a:t>
            </a:r>
          </a:p>
          <a:p>
            <a:pPr>
              <a:buChar char="•"/>
            </a:pPr>
            <a:r>
              <a:rPr lang="en-US" b="1" dirty="0"/>
              <a:t>Web3.js</a:t>
            </a:r>
            <a:r>
              <a:rPr lang="en-US" dirty="0"/>
              <a:t> for blockchain integration.</a:t>
            </a:r>
          </a:p>
          <a:p>
            <a:pPr>
              <a:buChar char="•"/>
            </a:pPr>
            <a:r>
              <a:rPr lang="en-US" b="1" dirty="0" err="1"/>
              <a:t>Lodash</a:t>
            </a:r>
            <a:r>
              <a:rPr lang="en-US" dirty="0"/>
              <a:t> for utility functions.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51CDB-3B55-D1DA-9372-387731FBBD65}"/>
              </a:ext>
            </a:extLst>
          </p:cNvPr>
          <p:cNvSpPr txBox="1"/>
          <p:nvPr/>
        </p:nvSpPr>
        <p:spPr>
          <a:xfrm>
            <a:off x="6104835" y="5994400"/>
            <a:ext cx="5758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/>
              </a:rPr>
              <a:t>GITHUB REPO: </a:t>
            </a:r>
            <a:r>
              <a:rPr lang="en-IN" sz="1800" u="sng" dirty="0">
                <a:solidFill>
                  <a:srgbClr val="0000FF"/>
                </a:solidFill>
                <a:cs typeface="Segoe UI"/>
                <a:hlinkClick r:id="rId9"/>
              </a:rPr>
              <a:t>dubeysanskar/codify (github.com)</a:t>
            </a:r>
            <a:r>
              <a:rPr lang="en-US" sz="1800" dirty="0">
                <a:hlinkClick r:id="rId9"/>
              </a:rPr>
              <a:t>​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CD927-719A-5F0B-9D29-EEE821834456}"/>
              </a:ext>
            </a:extLst>
          </p:cNvPr>
          <p:cNvSpPr txBox="1"/>
          <p:nvPr/>
        </p:nvSpPr>
        <p:spPr>
          <a:xfrm>
            <a:off x="8148320" y="3799840"/>
            <a:ext cx="135128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900" b="1" dirty="0">
                <a:latin typeface="Times New Roman"/>
              </a:rPr>
              <a:t>Core Tech Stack: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D5C3CD-0BF8-8835-B5AA-7E831FC9C9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4581" y="0"/>
            <a:ext cx="12192000" cy="8867513"/>
          </a:xfrm>
          <a:prstGeom prst="rect">
            <a:avLst/>
          </a:prstGeom>
        </p:spPr>
      </p:pic>
      <p:sp>
        <p:nvSpPr>
          <p:cNvPr id="119" name="Google Shape;119;g2fd347d205f_0_38"/>
          <p:cNvSpPr/>
          <p:nvPr/>
        </p:nvSpPr>
        <p:spPr>
          <a:xfrm>
            <a:off x="1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fd347d205f_0_38"/>
          <p:cNvSpPr txBox="1">
            <a:spLocks noGrp="1"/>
          </p:cNvSpPr>
          <p:nvPr>
            <p:ph type="title"/>
          </p:nvPr>
        </p:nvSpPr>
        <p:spPr>
          <a:xfrm>
            <a:off x="1994564" y="-2557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2" name="Google Shape;122;g2fd347d205f_0_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4" name="Google Shape;124;g2fd347d205f_0_38"/>
          <p:cNvSpPr/>
          <p:nvPr/>
        </p:nvSpPr>
        <p:spPr>
          <a:xfrm>
            <a:off x="10665915" y="-137527"/>
            <a:ext cx="1522547" cy="1154884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1D42D-173E-539D-BB67-86130A63B5CA}"/>
              </a:ext>
            </a:extLst>
          </p:cNvPr>
          <p:cNvSpPr txBox="1"/>
          <p:nvPr/>
        </p:nvSpPr>
        <p:spPr>
          <a:xfrm>
            <a:off x="174606" y="883681"/>
            <a:ext cx="11841362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b="1" dirty="0">
                <a:latin typeface="Times New Roman"/>
                <a:cs typeface="Times New Roman"/>
              </a:rPr>
              <a:t>USE CASES/ FEASIBILITY: 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Proven Technologies:</a:t>
            </a:r>
            <a:r>
              <a:rPr lang="en-US" dirty="0"/>
              <a:t> Leverages React for responsive front-end development, AI-driven Natural Language Processing (NLP) for automation (resume building, chatbot creation, etc.), and Blockchain for decentralized verification (certifications, alumni networks).</a:t>
            </a:r>
          </a:p>
          <a:p>
            <a:pPr marL="285750" indent="-285750">
              <a:buChar char="•"/>
            </a:pPr>
            <a:r>
              <a:rPr lang="en-US" b="1" dirty="0"/>
              <a:t>Cloud Scalability:</a:t>
            </a:r>
            <a:r>
              <a:rPr lang="en-US" dirty="0"/>
              <a:t> Uses cloud-based architecture to ensure high performance, reliability, and real-time synchronization of resources, from study materials to interview simulations.</a:t>
            </a:r>
          </a:p>
          <a:p>
            <a:pPr marL="285750" indent="-285750">
              <a:buChar char="•"/>
            </a:pPr>
            <a:r>
              <a:rPr lang="en-US" b="1" dirty="0"/>
              <a:t>Smart Contracts &amp; AI Integration:</a:t>
            </a:r>
            <a:r>
              <a:rPr lang="en-US" dirty="0"/>
              <a:t> Seamlessly integrates smart contracts for secure peer-to-peer skill bartering and AI algorithms for real-time job matching and personalized feedback.</a:t>
            </a:r>
            <a:br>
              <a:rPr lang="en-US" dirty="0"/>
            </a:br>
            <a:endParaRPr lang="en-US" dirty="0"/>
          </a:p>
          <a:p>
            <a:r>
              <a:rPr lang="en-IN" sz="1800" b="1" dirty="0">
                <a:latin typeface="Times New Roman"/>
                <a:cs typeface="Times New Roman"/>
              </a:rPr>
              <a:t>SHOWSTOPPER/ CHALLENGES:</a:t>
            </a:r>
          </a:p>
          <a:p>
            <a:pPr marL="285750" indent="-285750">
              <a:buChar char="•"/>
            </a:pPr>
            <a:r>
              <a:rPr lang="en-IN" b="1" dirty="0">
                <a:latin typeface="+mj-lt"/>
              </a:rPr>
              <a:t>Resource Management:</a:t>
            </a:r>
            <a:r>
              <a:rPr lang="en-IN" dirty="0">
                <a:latin typeface="+mj-lt"/>
              </a:rPr>
              <a:t> Scaling resource libraries (notes, past year question papers, projects) across multiple educational institutions.</a:t>
            </a:r>
            <a:endParaRPr lang="en-US" dirty="0"/>
          </a:p>
          <a:p>
            <a:pPr marL="285750" indent="-285750">
              <a:buChar char="•"/>
            </a:pPr>
            <a:r>
              <a:rPr lang="en-IN" b="1" dirty="0">
                <a:latin typeface="+mj-lt"/>
              </a:rPr>
              <a:t>Sustained User Engagement:</a:t>
            </a:r>
            <a:r>
              <a:rPr lang="en-IN" dirty="0">
                <a:latin typeface="+mj-lt"/>
              </a:rPr>
              <a:t> Ensuring users remain engaged across multiple offerings like skill exchanges, mentorship, and job opportunities.</a:t>
            </a:r>
            <a:endParaRPr lang="en-IN" dirty="0"/>
          </a:p>
          <a:p>
            <a:endParaRPr lang="en-IN" dirty="0">
              <a:latin typeface="+mj-lt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/>
                <a:cs typeface="Times New Roman"/>
              </a:rPr>
              <a:t>SOLUTIONS:</a:t>
            </a:r>
          </a:p>
          <a:p>
            <a:pPr marL="285750" indent="-285750">
              <a:buChar char="•"/>
            </a:pPr>
            <a:r>
              <a:rPr lang="en-US" b="1" dirty="0"/>
              <a:t>AI-Powered User Retention:</a:t>
            </a:r>
            <a:r>
              <a:rPr lang="en-US" dirty="0"/>
              <a:t> Implement personalized AI-driven notifications and learning pathways based on user behavior and interests.</a:t>
            </a:r>
          </a:p>
          <a:p>
            <a:pPr marL="285750" indent="-285750">
              <a:buChar char="•"/>
            </a:pPr>
            <a:r>
              <a:rPr lang="en-US" b="1" dirty="0"/>
              <a:t>Decentralized Incentives:</a:t>
            </a:r>
            <a:r>
              <a:rPr lang="en-US" dirty="0"/>
              <a:t> Introduce blockchain-verified rewards and badges for open-source contributions, skill acquisition, and freelance work to foster long-term engagement.</a:t>
            </a:r>
          </a:p>
          <a:p>
            <a:pPr marL="285750" indent="-285750">
              <a:buChar char="•"/>
            </a:pPr>
            <a:r>
              <a:rPr lang="en-US" b="1" dirty="0"/>
              <a:t>Cross-Platform Accessibility:</a:t>
            </a:r>
            <a:r>
              <a:rPr lang="en-US" dirty="0"/>
              <a:t> Ensure seamless access across devices (web and mobile), making resources and opportunities available anytime, anywhere.</a:t>
            </a:r>
          </a:p>
          <a:p>
            <a:pPr marL="285750" indent="-285750">
              <a:buChar char="•"/>
            </a:pPr>
            <a:endParaRPr lang="en-US" dirty="0"/>
          </a:p>
          <a:p>
            <a:endParaRPr lang="en-US" dirty="0"/>
          </a:p>
          <a:p>
            <a:r>
              <a:rPr lang="en-IN" sz="1800" b="1" dirty="0">
                <a:latin typeface="Times New Roman"/>
                <a:cs typeface="Times New Roman"/>
              </a:rPr>
              <a:t>VIDEO SOLUTION LINK: </a:t>
            </a:r>
            <a:r>
              <a:rPr lang="en-IN" sz="1800" dirty="0">
                <a:hlinkClick r:id="rId5"/>
              </a:rPr>
              <a:t>https://drive.google.com/drive/folders/147sRlDFJCbQoLVsn7LRGaPF9VxaN7Kz0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603D06-2AF7-4E6F-01E6-F308BEF47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09" y="-602040"/>
            <a:ext cx="1795672" cy="18177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144937-23BB-7ADB-B498-B03A064009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14581" y="0"/>
            <a:ext cx="12192000" cy="8867513"/>
          </a:xfrm>
          <a:prstGeom prst="rect">
            <a:avLst/>
          </a:prstGeom>
        </p:spPr>
      </p:pic>
      <p:sp>
        <p:nvSpPr>
          <p:cNvPr id="131" name="Google Shape;131;g2fd347d205f_0_4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2fd347d205f_0_49"/>
          <p:cNvSpPr txBox="1">
            <a:spLocks noGrp="1"/>
          </p:cNvSpPr>
          <p:nvPr>
            <p:ph type="title"/>
          </p:nvPr>
        </p:nvSpPr>
        <p:spPr>
          <a:xfrm>
            <a:off x="2016651" y="-3133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4" name="Google Shape;134;g2fd347d205f_0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36" name="Google Shape;136;g2fd347d205f_0_49"/>
          <p:cNvSpPr/>
          <p:nvPr/>
        </p:nvSpPr>
        <p:spPr>
          <a:xfrm>
            <a:off x="10610696" y="-192745"/>
            <a:ext cx="1566723" cy="1265320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AD469-6C78-D89C-28D0-6171E598073E}"/>
              </a:ext>
            </a:extLst>
          </p:cNvPr>
          <p:cNvSpPr txBox="1"/>
          <p:nvPr/>
        </p:nvSpPr>
        <p:spPr>
          <a:xfrm>
            <a:off x="141476" y="695943"/>
            <a:ext cx="11907621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IMPACT:</a:t>
            </a: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b="1" dirty="0"/>
              <a:t>Impact on Target Audience: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For Students &amp; Professionals:</a:t>
            </a:r>
            <a:r>
              <a:rPr lang="en-US" dirty="0"/>
              <a:t> Access to industry-specific resources, AI-powered job matching, and skill development—all under one platform.</a:t>
            </a:r>
          </a:p>
          <a:p>
            <a:pPr marL="285750" indent="-285750">
              <a:buChar char="•"/>
            </a:pPr>
            <a:r>
              <a:rPr lang="en-US" b="1" dirty="0"/>
              <a:t>For Freelancers:</a:t>
            </a:r>
            <a:r>
              <a:rPr lang="en-US" dirty="0"/>
              <a:t> Build a recognized portfolio with verifiable contributions to open-source projects, making your work easily visible to recruiters.</a:t>
            </a:r>
          </a:p>
          <a:p>
            <a:pPr marL="285750" indent="-285750">
              <a:buChar char="•"/>
            </a:pPr>
            <a:r>
              <a:rPr lang="en-US" b="1" dirty="0"/>
              <a:t>For Universities &amp; Companies:</a:t>
            </a:r>
            <a:r>
              <a:rPr lang="en-US" dirty="0"/>
              <a:t> Seamless integration of career pathways with verified alumni networks and decentralized mentorship programs.</a:t>
            </a:r>
          </a:p>
          <a:p>
            <a:r>
              <a:rPr lang="en-US" b="1" dirty="0"/>
              <a:t>Broad Impact:</a:t>
            </a:r>
            <a:endParaRPr lang="en-US" dirty="0"/>
          </a:p>
          <a:p>
            <a:pPr marL="285750" indent="-285750">
              <a:buChar char="•"/>
            </a:pPr>
            <a:r>
              <a:rPr lang="en-US" b="1" dirty="0"/>
              <a:t>Social Impact:</a:t>
            </a:r>
            <a:r>
              <a:rPr lang="en-US" dirty="0"/>
              <a:t> Fosters collaboration and continuous learning through decentralized peer-to-peer exchanges and mentorship.</a:t>
            </a:r>
          </a:p>
          <a:p>
            <a:pPr marL="285750" indent="-285750">
              <a:buChar char="•"/>
            </a:pPr>
            <a:r>
              <a:rPr lang="en-US" b="1" dirty="0"/>
              <a:t>Economic Impact:</a:t>
            </a:r>
            <a:r>
              <a:rPr lang="en-US" dirty="0"/>
              <a:t> Bridges the skills gap by connecting fresh graduates and professionals with internships and job opportunities.</a:t>
            </a:r>
          </a:p>
          <a:p>
            <a:pPr marL="285750" indent="-285750">
              <a:buChar char="•"/>
            </a:pPr>
            <a:r>
              <a:rPr lang="en-US" b="1" dirty="0"/>
              <a:t>Career Impact:</a:t>
            </a:r>
            <a:r>
              <a:rPr lang="en-US" dirty="0"/>
              <a:t> Provides personalized career paths and real-time feedback, enhancing job readiness and long-term professional growth.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IN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BENEFITS: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IN" sz="1800" b="1" dirty="0">
                <a:latin typeface="Times New Roman"/>
                <a:cs typeface="Times New Roman"/>
              </a:rPr>
              <a:t> </a:t>
            </a:r>
            <a:r>
              <a:rPr lang="en-US" b="1" dirty="0"/>
              <a:t>Efficiency:</a:t>
            </a:r>
            <a:r>
              <a:rPr lang="en-US" dirty="0"/>
              <a:t> Simplifies the journey from learning to employment using AI, Blockchain, and cloud infrastructure, minimizing barriers in job searching and skill verification.</a:t>
            </a:r>
          </a:p>
          <a:p>
            <a:r>
              <a:rPr lang="en-US" b="1" dirty="0"/>
              <a:t>Trust &amp; Security:</a:t>
            </a:r>
            <a:r>
              <a:rPr lang="en-US" dirty="0"/>
              <a:t> Blockchain ensures tamper-proof credentials, enhancing trust for recruiters and mentors.</a:t>
            </a:r>
          </a:p>
          <a:p>
            <a:r>
              <a:rPr lang="en-US" b="1" dirty="0"/>
              <a:t>Scalability:</a:t>
            </a:r>
            <a:r>
              <a:rPr lang="en-US" dirty="0"/>
              <a:t> Cloud architecture supports large-scale resources and real-time synchronization.</a:t>
            </a:r>
          </a:p>
          <a:p>
            <a:r>
              <a:rPr lang="en-US" b="1" dirty="0"/>
              <a:t>User Retention:</a:t>
            </a:r>
            <a:r>
              <a:rPr lang="en-US" dirty="0"/>
              <a:t> AI-driven incentives like personalized learning paths and skill badges keep users engaged long-term.</a:t>
            </a:r>
          </a:p>
          <a:p>
            <a:endParaRPr lang="en-US" dirty="0"/>
          </a:p>
          <a:p>
            <a:r>
              <a:rPr lang="en-IN" sz="1800" b="1" dirty="0">
                <a:solidFill>
                  <a:schemeClr val="tx1"/>
                </a:solidFill>
                <a:latin typeface="Times New Roman"/>
                <a:cs typeface="Times New Roman"/>
              </a:rPr>
              <a:t>REVENUE STREAMS:</a:t>
            </a:r>
            <a:endParaRPr lang="en-IN"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Subscriptions:</a:t>
            </a:r>
            <a:r>
              <a:rPr lang="en-US" dirty="0"/>
              <a:t> Charge for premium features like advanced tools, AI-driven services, and mock interviews.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Freemium:</a:t>
            </a:r>
            <a:r>
              <a:rPr lang="en-US" dirty="0"/>
              <a:t> Offer basic features free, with paid upgrades (e.g., custom GPT models, verified certifications).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Corporate Partnerships:</a:t>
            </a:r>
            <a:r>
              <a:rPr lang="en-US" dirty="0"/>
              <a:t> Companies pay for recruitment access to verified candidates.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Rental Collaborations Model:</a:t>
            </a:r>
            <a:r>
              <a:rPr lang="en-US" dirty="0"/>
              <a:t> Charge institutions for resource management and student career services.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 dirty="0"/>
              <a:t>Freelance Commissions:</a:t>
            </a:r>
            <a:r>
              <a:rPr lang="en-US" dirty="0"/>
              <a:t> Take a cut from freelance transactions on the platform.</a:t>
            </a:r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9DC323-24DF-7063-BB4B-CEE6B0850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118" y="-745605"/>
            <a:ext cx="2027585" cy="19944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933C10-793D-E78E-D391-872524A2C2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12192000" cy="8867513"/>
          </a:xfrm>
          <a:prstGeom prst="rect">
            <a:avLst/>
          </a:prstGeom>
        </p:spPr>
      </p:pic>
      <p:sp>
        <p:nvSpPr>
          <p:cNvPr id="143" name="Google Shape;143;g2fd347d205f_0_6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2fd347d205f_0_60"/>
          <p:cNvSpPr txBox="1">
            <a:spLocks noGrp="1"/>
          </p:cNvSpPr>
          <p:nvPr>
            <p:ph type="title"/>
          </p:nvPr>
        </p:nvSpPr>
        <p:spPr>
          <a:xfrm>
            <a:off x="1983521" y="-901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46" name="Google Shape;146;g2fd347d205f_0_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8" name="Google Shape;148;g2fd347d205f_0_60"/>
          <p:cNvSpPr/>
          <p:nvPr/>
        </p:nvSpPr>
        <p:spPr>
          <a:xfrm>
            <a:off x="10036437" y="-137527"/>
            <a:ext cx="2140982" cy="1585579"/>
          </a:xfrm>
          <a:custGeom>
            <a:avLst/>
            <a:gdLst/>
            <a:ahLst/>
            <a:cxnLst/>
            <a:rect l="l" t="t" r="r" b="b"/>
            <a:pathLst>
              <a:path w="2314575" h="2107082" extrusionOk="0">
                <a:moveTo>
                  <a:pt x="0" y="0"/>
                </a:moveTo>
                <a:lnTo>
                  <a:pt x="2314575" y="0"/>
                </a:lnTo>
                <a:lnTo>
                  <a:pt x="2314575" y="2107082"/>
                </a:lnTo>
                <a:lnTo>
                  <a:pt x="0" y="21070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98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55087-37FE-3E52-528E-F8A1D5F2D9BA}"/>
              </a:ext>
            </a:extLst>
          </p:cNvPr>
          <p:cNvSpPr txBox="1"/>
          <p:nvPr/>
        </p:nvSpPr>
        <p:spPr>
          <a:xfrm>
            <a:off x="1212575" y="1367183"/>
            <a:ext cx="9777894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latin typeface="Times New Roman"/>
                <a:cs typeface="Times New Roman"/>
              </a:rPr>
              <a:t>AI-Powered Mental Health Interventions for Young Adults:</a:t>
            </a:r>
            <a:endParaRPr lang="en-US" b="1"/>
          </a:p>
          <a:p>
            <a:r>
              <a:rPr lang="en-US">
                <a:cs typeface="Segoe UI"/>
              </a:rPr>
              <a:t>​</a:t>
            </a:r>
            <a:r>
              <a:rPr lang="en-US">
                <a:hlinkClick r:id="rId5"/>
              </a:rPr>
              <a:t>https://ai.jmir.org/2022/1/e38171</a:t>
            </a:r>
            <a:r>
              <a:rPr lang="en-US"/>
              <a:t> </a:t>
            </a:r>
          </a:p>
          <a:p>
            <a:endParaRPr lang="en-IN" sz="1800" b="1">
              <a:latin typeface="Times New Roman"/>
              <a:cs typeface="Segoe UI"/>
            </a:endParaRPr>
          </a:p>
          <a:p>
            <a:r>
              <a:rPr lang="en-US" sz="1800" b="1">
                <a:latin typeface="Times New Roman"/>
                <a:cs typeface="Times New Roman"/>
              </a:rPr>
              <a:t>Artificial Intelligence for Career Guidance– Current Requirements and Prospects for the Future:</a:t>
            </a:r>
            <a:endParaRPr lang="en-US"/>
          </a:p>
          <a:p>
            <a:r>
              <a:rPr lang="en-US">
                <a:hlinkClick r:id="rId6"/>
              </a:rPr>
              <a:t>https://files.eric.ed.gov/fulltext/EJ1318705.pdf</a:t>
            </a:r>
            <a:r>
              <a:rPr lang="en-US"/>
              <a:t> </a:t>
            </a:r>
            <a:endParaRPr lang="en-US" sz="1800">
              <a:latin typeface="Times New Roman"/>
              <a:cs typeface="Times New Roman"/>
            </a:endParaRPr>
          </a:p>
          <a:p>
            <a:endParaRPr lang="en-US"/>
          </a:p>
          <a:p>
            <a:r>
              <a:rPr lang="en-US">
                <a:hlinkClick r:id="rId7"/>
              </a:rPr>
              <a:t>https://www.researchgate.net/publication/354171816_Artificial_Intelligence_for_Career_Guidance_-_Current_Requirements_and_Prospects_for_the_Future</a:t>
            </a:r>
          </a:p>
          <a:p>
            <a:endParaRPr lang="en-US"/>
          </a:p>
          <a:p>
            <a:r>
              <a:rPr lang="en-US" sz="1800" b="1">
                <a:latin typeface="Times New Roman"/>
                <a:cs typeface="Times New Roman"/>
              </a:rPr>
              <a:t>Gamification in Education: What, How, Why Bother? by Educause Review:</a:t>
            </a:r>
            <a:endParaRPr lang="en-US"/>
          </a:p>
          <a:p>
            <a:r>
              <a:rPr lang="en-US"/>
              <a:t> </a:t>
            </a:r>
            <a:r>
              <a:rPr lang="en-US">
                <a:hlinkClick r:id="rId8"/>
              </a:rPr>
              <a:t>https://www.researchgate.net/publication/258697764_Gamification_in_Education_What_How_Why_Bother</a:t>
            </a:r>
          </a:p>
          <a:p>
            <a:endParaRPr lang="en-US"/>
          </a:p>
          <a:p>
            <a:r>
              <a:rPr lang="en-US" sz="1800" b="1">
                <a:latin typeface="Times New Roman"/>
                <a:cs typeface="Times New Roman"/>
              </a:rPr>
              <a:t>Peer Review and Feedback with AI: Enhancing Student Learning by MIT News:</a:t>
            </a:r>
            <a:endParaRPr lang="en-US"/>
          </a:p>
          <a:p>
            <a:r>
              <a:rPr lang="en-US">
                <a:hlinkClick r:id="rId9"/>
              </a:rPr>
              <a:t>https://news.mit.edu/2016/using-educational-technology-enhance-student-learning-0805</a:t>
            </a:r>
          </a:p>
          <a:p>
            <a:endParaRPr lang="en-US"/>
          </a:p>
          <a:p>
            <a:r>
              <a:rPr lang="en-US" sz="1800" b="1">
                <a:latin typeface="Times New Roman"/>
                <a:cs typeface="Times New Roman"/>
              </a:rPr>
              <a:t>Gig Economy in Education: Opportunities and Challenges by World Economic Forum :</a:t>
            </a:r>
            <a:endParaRPr lang="en-US"/>
          </a:p>
          <a:p>
            <a:r>
              <a:rPr lang="en-US">
                <a:hlinkClick r:id="rId10"/>
              </a:rPr>
              <a:t>https://www.weforum.org/agenda/2021/05/what-gig-economy-workers/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6D4996-CD5A-9B42-435E-33DA90025F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448" y="-557866"/>
            <a:ext cx="2049671" cy="20717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UHACK 3.0 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284</cp:revision>
  <dcterms:created xsi:type="dcterms:W3CDTF">2006-08-16T00:00:00Z</dcterms:created>
  <dcterms:modified xsi:type="dcterms:W3CDTF">2024-09-26T04:36:24Z</dcterms:modified>
</cp:coreProperties>
</file>